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7" r:id="rId3"/>
    <p:sldId id="268" r:id="rId4"/>
    <p:sldId id="258" r:id="rId5"/>
    <p:sldId id="261" r:id="rId6"/>
    <p:sldId id="262" r:id="rId7"/>
    <p:sldId id="260" r:id="rId8"/>
    <p:sldId id="263" r:id="rId9"/>
    <p:sldId id="264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6" autoAdjust="0"/>
    <p:restoredTop sz="94660"/>
  </p:normalViewPr>
  <p:slideViewPr>
    <p:cSldViewPr snapToGrid="0">
      <p:cViewPr varScale="1">
        <p:scale>
          <a:sx n="96" d="100"/>
          <a:sy n="96" d="100"/>
        </p:scale>
        <p:origin x="58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2B3E-68E7-4821-82D4-4D80F3975DA3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69750-B859-4E6E-B161-DD5B4E093F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9179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2B3E-68E7-4821-82D4-4D80F3975DA3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69750-B859-4E6E-B161-DD5B4E093F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0127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2B3E-68E7-4821-82D4-4D80F3975DA3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69750-B859-4E6E-B161-DD5B4E093F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772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2B3E-68E7-4821-82D4-4D80F3975DA3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69750-B859-4E6E-B161-DD5B4E093F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4968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2B3E-68E7-4821-82D4-4D80F3975DA3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69750-B859-4E6E-B161-DD5B4E093F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7777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2B3E-68E7-4821-82D4-4D80F3975DA3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69750-B859-4E6E-B161-DD5B4E093F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9178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2B3E-68E7-4821-82D4-4D80F3975DA3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69750-B859-4E6E-B161-DD5B4E093F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2738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2B3E-68E7-4821-82D4-4D80F3975DA3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69750-B859-4E6E-B161-DD5B4E093F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4887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2B3E-68E7-4821-82D4-4D80F3975DA3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69750-B859-4E6E-B161-DD5B4E093F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247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2B3E-68E7-4821-82D4-4D80F3975DA3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69750-B859-4E6E-B161-DD5B4E093F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5986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2B3E-68E7-4821-82D4-4D80F3975DA3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69750-B859-4E6E-B161-DD5B4E093F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5698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5C2B3E-68E7-4821-82D4-4D80F3975DA3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69750-B859-4E6E-B161-DD5B4E093F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227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2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18022" y="1712570"/>
            <a:ext cx="227818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6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Miniclip</a:t>
            </a:r>
            <a:r>
              <a:rPr lang="en-GB" b="1" kern="0" spc="400" dirty="0" smtClean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dirty="0"/>
          </a:p>
        </p:txBody>
      </p:sp>
      <p:sp>
        <p:nvSpPr>
          <p:cNvPr id="5" name="Text 5"/>
          <p:cNvSpPr/>
          <p:nvPr/>
        </p:nvSpPr>
        <p:spPr>
          <a:xfrm>
            <a:off x="2683565" y="2208475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36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Game Feature Analysis</a:t>
            </a:r>
            <a:endParaRPr lang="en-US" sz="3600" dirty="0"/>
          </a:p>
        </p:txBody>
      </p:sp>
      <p:sp>
        <p:nvSpPr>
          <p:cNvPr id="6" name="Text 7"/>
          <p:cNvSpPr/>
          <p:nvPr/>
        </p:nvSpPr>
        <p:spPr>
          <a:xfrm>
            <a:off x="679837" y="6269604"/>
            <a:ext cx="7859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 smtClean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Product Analyst  ·  Prepared 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Interview  · </a:t>
            </a:r>
            <a:r>
              <a:rPr lang="en-US" b="1" dirty="0" smtClean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Olajide Badero</a:t>
            </a:r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223513" y="3694116"/>
            <a:ext cx="2516587" cy="656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10/04/2026</a:t>
            </a:r>
            <a:endParaRPr lang="en-US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0262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2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4538"/>
            <a:ext cx="12192000" cy="328425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864334"/>
            <a:ext cx="5557963" cy="299366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02303" y="3864334"/>
            <a:ext cx="668969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solidFill>
                  <a:schemeClr val="accent5">
                    <a:lumMod val="50000"/>
                  </a:schemeClr>
                </a:solidFill>
              </a:rPr>
              <a:t>All match types experienced a strong launch spike driven by initial curiosity (~ 4980 users averagely), but over 70% of users dropped off within the first 2–3 days, indicating a significant on-boarding and early experience gap. </a:t>
            </a:r>
          </a:p>
          <a:p>
            <a:endParaRPr lang="en-GB" sz="1600" dirty="0" smtClean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GB" sz="1600" dirty="0" smtClean="0">
                <a:solidFill>
                  <a:schemeClr val="accent5">
                    <a:lumMod val="50000"/>
                  </a:schemeClr>
                </a:solidFill>
              </a:rPr>
              <a:t>Match Type B consistently outperforms, suggesting stronger player appeal or design balance, while Match Type C underperforms from day one, pointing to a discoverability or positioning issue rather than just retention. </a:t>
            </a:r>
          </a:p>
          <a:p>
            <a:endParaRPr lang="en-GB" sz="1600" dirty="0" smtClean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GB" sz="1600" dirty="0" smtClean="0">
                <a:solidFill>
                  <a:schemeClr val="accent5">
                    <a:lumMod val="50000"/>
                  </a:schemeClr>
                </a:solidFill>
              </a:rPr>
              <a:t>Match Type B leads with ~575 </a:t>
            </a:r>
            <a:r>
              <a:rPr lang="en-GB" sz="1600" dirty="0" err="1" smtClean="0">
                <a:solidFill>
                  <a:schemeClr val="accent5">
                    <a:lumMod val="50000"/>
                  </a:schemeClr>
                </a:solidFill>
              </a:rPr>
              <a:t>avg</a:t>
            </a:r>
            <a:r>
              <a:rPr lang="en-GB" sz="1600" dirty="0" smtClean="0">
                <a:solidFill>
                  <a:schemeClr val="accent5">
                    <a:lumMod val="50000"/>
                  </a:schemeClr>
                </a:solidFill>
              </a:rPr>
              <a:t> daily unique users, A at 495, and C at just 299 (roughly half of B.) </a:t>
            </a:r>
            <a:r>
              <a:rPr lang="en-GB" sz="1600" dirty="0" smtClean="0">
                <a:solidFill>
                  <a:schemeClr val="accent5">
                    <a:lumMod val="50000"/>
                  </a:schemeClr>
                </a:solidFill>
              </a:rPr>
              <a:t>Adoption stabilises after the first week with no re-engagement spikes, highlighting the absence of retention mechanics and long-term engagement drivers.</a:t>
            </a:r>
            <a:endParaRPr lang="en-GB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PageTitle"/>
          <p:cNvSpPr>
            <a:spLocks noGrp="1"/>
          </p:cNvSpPr>
          <p:nvPr/>
        </p:nvSpPr>
        <p:spPr>
          <a:xfrm>
            <a:off x="0" y="0"/>
            <a:ext cx="12192000" cy="504538"/>
          </a:xfrm>
          <a:prstGeom prst="rect">
            <a:avLst/>
          </a:prstGeom>
          <a:solidFill>
            <a:srgbClr val="1A1A2E"/>
          </a:solidFill>
        </p:spPr>
        <p:txBody>
          <a:bodyPr anchor="ctr"/>
          <a:lstStyle/>
          <a:p>
            <a:pPr algn="ctr"/>
            <a:r>
              <a:rPr lang="en-US" sz="2400" b="1">
                <a:solidFill>
                  <a:srgbClr val="FFFFFF"/>
                </a:solidFill>
              </a:rPr>
              <a:t>Feature Adoption</a:t>
            </a:r>
            <a:endParaRPr lang="en-US" sz="2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6631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2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3368" y="4659465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PageTitle"/>
          <p:cNvSpPr>
            <a:spLocks noGrp="1"/>
          </p:cNvSpPr>
          <p:nvPr/>
        </p:nvSpPr>
        <p:spPr>
          <a:xfrm>
            <a:off x="0" y="0"/>
            <a:ext cx="12192000" cy="504538"/>
          </a:xfrm>
          <a:prstGeom prst="rect">
            <a:avLst/>
          </a:prstGeom>
          <a:solidFill>
            <a:srgbClr val="1A1A2E"/>
          </a:solidFill>
        </p:spPr>
        <p:txBody>
          <a:bodyPr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Feature </a:t>
            </a:r>
            <a:r>
              <a:rPr lang="en-US" sz="2400" b="1" dirty="0" smtClean="0">
                <a:solidFill>
                  <a:srgbClr val="FFFFFF"/>
                </a:solidFill>
              </a:rPr>
              <a:t>Activation</a:t>
            </a:r>
            <a:endParaRPr lang="en-US" sz="2400" b="1" dirty="0">
              <a:solidFill>
                <a:srgbClr val="FFFFFF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8249"/>
            <a:ext cx="12192000" cy="534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68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2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28229"/>
            <a:ext cx="7164125" cy="362976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784" y="3228229"/>
            <a:ext cx="4972216" cy="363749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7078"/>
            <a:ext cx="6019137" cy="26954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19137" y="405514"/>
            <a:ext cx="617286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50" dirty="0">
                <a:solidFill>
                  <a:schemeClr val="accent5">
                    <a:lumMod val="50000"/>
                  </a:schemeClr>
                </a:solidFill>
              </a:rPr>
              <a:t>The feature shows a clear gap between acquisition and retention. Match Type B brings in the most users at around 575 daily, but retains the least at 43.6%. In contrast, Match Type A, with lower adoption, performs best on retention at 48.2%, suggesting a stronger gameplay loop. Match Type C sits in the middle, reinforcing that experience quality matters more than scale</a:t>
            </a:r>
            <a:r>
              <a:rPr lang="en-GB" sz="1250" dirty="0" smtClean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  <a:p>
            <a:endParaRPr lang="en-GB" sz="1250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GB" sz="1250" dirty="0">
                <a:solidFill>
                  <a:schemeClr val="accent5">
                    <a:lumMod val="50000"/>
                  </a:schemeClr>
                </a:solidFill>
              </a:rPr>
              <a:t>Retention drops sharply early on, with 60 to 70% of users churning within the first 48 hours. By Day 2, only about 25 to 30% of users remain, meaning most players leave before forming a habit.</a:t>
            </a:r>
          </a:p>
          <a:p>
            <a:r>
              <a:rPr lang="en-GB" sz="1250" dirty="0">
                <a:solidFill>
                  <a:schemeClr val="accent5">
                    <a:lumMod val="50000"/>
                  </a:schemeClr>
                </a:solidFill>
              </a:rPr>
              <a:t>However, those who stay beyond Day 5 become relatively stable, forming a small but loyal core. We also see that early cohorts retain much better, with nearly 46% still active by Day 30, while later cohorts drop off much faster</a:t>
            </a:r>
            <a:r>
              <a:rPr lang="en-GB" sz="1250" dirty="0" smtClean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  <a:p>
            <a:endParaRPr lang="en-GB" sz="1250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GB" sz="1250" dirty="0">
                <a:solidFill>
                  <a:schemeClr val="accent5">
                    <a:lumMod val="50000"/>
                  </a:schemeClr>
                </a:solidFill>
              </a:rPr>
              <a:t>Overall, the feature attracts users well but struggles to keep them, with Match Type A offering the clearest model for improving retention.</a:t>
            </a:r>
          </a:p>
          <a:p>
            <a:endParaRPr lang="en-GB" sz="1250" dirty="0"/>
          </a:p>
        </p:txBody>
      </p:sp>
      <p:sp>
        <p:nvSpPr>
          <p:cNvPr id="8" name="PageTitle"/>
          <p:cNvSpPr>
            <a:spLocks noGrp="1"/>
          </p:cNvSpPr>
          <p:nvPr/>
        </p:nvSpPr>
        <p:spPr>
          <a:xfrm>
            <a:off x="0" y="0"/>
            <a:ext cx="12192000" cy="477078"/>
          </a:xfrm>
          <a:prstGeom prst="rect">
            <a:avLst/>
          </a:prstGeom>
          <a:solidFill>
            <a:srgbClr val="1A1A2E"/>
          </a:solidFill>
        </p:spPr>
        <p:txBody>
          <a:bodyPr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Feature 30-Day Retention</a:t>
            </a:r>
          </a:p>
        </p:txBody>
      </p:sp>
    </p:spTree>
    <p:extLst>
      <p:ext uri="{BB962C8B-B14F-4D97-AF65-F5344CB8AC3E}">
        <p14:creationId xmlns:p14="http://schemas.microsoft.com/office/powerpoint/2010/main" val="3023656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2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71353"/>
            <a:ext cx="5621572" cy="348664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7891"/>
            <a:ext cx="5621571" cy="286780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7230" y="3371353"/>
            <a:ext cx="6514769" cy="34866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95066" y="349455"/>
            <a:ext cx="664596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chemeClr val="accent5">
                    <a:lumMod val="50000"/>
                  </a:schemeClr>
                </a:solidFill>
              </a:rPr>
              <a:t>Most of the users play from Google platform compared to </a:t>
            </a:r>
            <a:r>
              <a:rPr lang="en-GB" sz="1400" dirty="0" err="1" smtClean="0">
                <a:solidFill>
                  <a:schemeClr val="accent5">
                    <a:lumMod val="50000"/>
                  </a:schemeClr>
                </a:solidFill>
              </a:rPr>
              <a:t>ios</a:t>
            </a:r>
            <a:r>
              <a:rPr lang="en-GB" sz="1400" dirty="0" smtClean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  <a:p>
            <a:r>
              <a:rPr lang="en-GB" sz="1400" dirty="0" smtClean="0">
                <a:solidFill>
                  <a:schemeClr val="accent5">
                    <a:lumMod val="50000"/>
                  </a:schemeClr>
                </a:solidFill>
              </a:rPr>
              <a:t>Across match types, Type B leads in total engagement, generating the highest number of matches, followed closely by Type A, while Type C significantly lags behind. However, volume alone doesn’t translate to quality. While win rates are relatively similar across all match types at around 50–51%, player behaviour tells a different story.</a:t>
            </a:r>
          </a:p>
          <a:p>
            <a:endParaRPr lang="en-GB" sz="1400" dirty="0" smtClean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GB" sz="1400" dirty="0" smtClean="0">
                <a:solidFill>
                  <a:schemeClr val="accent5">
                    <a:lumMod val="50000"/>
                  </a:schemeClr>
                </a:solidFill>
              </a:rPr>
              <a:t>Type C stands out with the highest abandon rate at 11.2%, compared to 9.3% for B and 8.9% for A. This indicates that players are not just choosing other modes—they are actively dropping out mid-match, pointing to friction within the gameplay experience itself.</a:t>
            </a:r>
          </a:p>
          <a:p>
            <a:endParaRPr lang="en-GB" sz="1400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GB" sz="1400" dirty="0" smtClean="0">
                <a:solidFill>
                  <a:schemeClr val="accent5">
                    <a:lumMod val="50000"/>
                  </a:schemeClr>
                </a:solidFill>
              </a:rPr>
              <a:t>Overall, while Type B is the primary driver of engagement volume, Type A delivers more stable gameplay behaviour, and Type C shows clear signs of disengagement during play, suggesting issues with experience, balance, or usability rather than just low demand.</a:t>
            </a:r>
            <a:endParaRPr lang="en-GB" sz="14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1" name="PageTitle"/>
          <p:cNvSpPr>
            <a:spLocks noGrp="1"/>
          </p:cNvSpPr>
          <p:nvPr/>
        </p:nvSpPr>
        <p:spPr>
          <a:xfrm>
            <a:off x="0" y="0"/>
            <a:ext cx="12192000" cy="447891"/>
          </a:xfrm>
          <a:prstGeom prst="rect">
            <a:avLst/>
          </a:prstGeom>
          <a:solidFill>
            <a:srgbClr val="1A1A2E"/>
          </a:solidFill>
        </p:spPr>
        <p:txBody>
          <a:bodyPr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Feature Engagement</a:t>
            </a:r>
            <a:endParaRPr lang="en-US" sz="2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8928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2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600077"/>
            <a:ext cx="6766560" cy="425792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6561" y="2600077"/>
            <a:ext cx="5502302" cy="42579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-79513" y="476419"/>
            <a:ext cx="1219199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>
                <a:solidFill>
                  <a:srgbClr val="002060"/>
                </a:solidFill>
              </a:rPr>
              <a:t>Engagement is heavily concentrated in 1v1 matches, which account for over 88% of total gameplay (922k out of ~1.05M matches), making it the dominant mode across all match types. Both Type A and B distribute some volume into 2v2 (~55k–58k matches each), but Type C shows zero participation in 2v2, indicating either a design misfit or lack of exposure for team-based play in this mode.</a:t>
            </a:r>
          </a:p>
          <a:p>
            <a:endParaRPr lang="en-GB" sz="1200" dirty="0">
              <a:solidFill>
                <a:srgbClr val="002060"/>
              </a:solidFill>
            </a:endParaRPr>
          </a:p>
          <a:p>
            <a:r>
              <a:rPr lang="en-GB" sz="1200" dirty="0" smtClean="0">
                <a:solidFill>
                  <a:srgbClr val="002060"/>
                </a:solidFill>
              </a:rPr>
              <a:t>Bot matches behave as expected, with an 86.4% win rate, extremely low loss rate (~1.2%), and moderate abandon rate (12.4%). This confirms they are effectively positioned as confidence-building or on-boarding experiences, helping players secure easy wins.</a:t>
            </a:r>
          </a:p>
          <a:p>
            <a:r>
              <a:rPr lang="en-GB" sz="1200" dirty="0" smtClean="0">
                <a:solidFill>
                  <a:srgbClr val="002060"/>
                </a:solidFill>
              </a:rPr>
              <a:t>Looking at player behaviour, abandon rates increase with complexity:	1v1: 9.4%, 2v2: 10.1%, Bot: 12.4%.</a:t>
            </a:r>
          </a:p>
          <a:p>
            <a:r>
              <a:rPr lang="en-GB" sz="1200" dirty="0" smtClean="0">
                <a:solidFill>
                  <a:srgbClr val="002060"/>
                </a:solidFill>
              </a:rPr>
              <a:t>This suggests that multiplayer coordination and possibly low-stakes bot matches introduce more drop-off, either due to friction, lower engagement, or reduced perceived value.</a:t>
            </a:r>
          </a:p>
          <a:p>
            <a:endParaRPr lang="en-GB" sz="1200" dirty="0">
              <a:solidFill>
                <a:srgbClr val="002060"/>
              </a:solidFill>
            </a:endParaRPr>
          </a:p>
          <a:p>
            <a:r>
              <a:rPr lang="en-GB" sz="1200" dirty="0" smtClean="0">
                <a:solidFill>
                  <a:srgbClr val="002060"/>
                </a:solidFill>
              </a:rPr>
              <a:t>Overall, while 1v1 is the clear engagement driver, the absence of 2v2 in Type C highlights a missed opportunity (or design limitation), and rising abandon rates in more complex modes point to potential gameplay or experience friction that could be optimised.</a:t>
            </a:r>
            <a:endParaRPr lang="en-GB" sz="1200" dirty="0">
              <a:solidFill>
                <a:srgbClr val="002060"/>
              </a:solidFill>
            </a:endParaRPr>
          </a:p>
        </p:txBody>
      </p:sp>
      <p:sp>
        <p:nvSpPr>
          <p:cNvPr id="6" name="PageTitle"/>
          <p:cNvSpPr>
            <a:spLocks noGrp="1"/>
          </p:cNvSpPr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1A1A2E"/>
          </a:solidFill>
        </p:spPr>
        <p:txBody>
          <a:bodyPr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Team Engagement Performance</a:t>
            </a:r>
            <a:endParaRPr lang="en-US" sz="2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0928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2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902" y="500000"/>
            <a:ext cx="6003232" cy="310678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635814"/>
            <a:ext cx="6225871" cy="324238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3232" y="500000"/>
            <a:ext cx="6188768" cy="30960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25871" y="3606790"/>
            <a:ext cx="5966129" cy="3362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50" dirty="0" smtClean="0">
                <a:solidFill>
                  <a:srgbClr val="002060"/>
                </a:solidFill>
              </a:rPr>
              <a:t>Engagement across tiers peaks at Tier 2, which represents the core gameplay zone with the highest user activity and strong participation across match types, particularly A and B.</a:t>
            </a:r>
          </a:p>
          <a:p>
            <a:endParaRPr lang="en-GB" sz="1250" dirty="0">
              <a:solidFill>
                <a:srgbClr val="002060"/>
              </a:solidFill>
            </a:endParaRPr>
          </a:p>
          <a:p>
            <a:r>
              <a:rPr lang="en-GB" sz="1250" dirty="0" smtClean="0">
                <a:solidFill>
                  <a:srgbClr val="002060"/>
                </a:solidFill>
              </a:rPr>
              <a:t>A clear bottleneck appears at Tier 4, where overall engagement drops. At this point, Type C disappears entirely (0 users) and Type B also declines, suggesting a progression or balance issue that limits access or appeal at this stage.</a:t>
            </a:r>
          </a:p>
          <a:p>
            <a:endParaRPr lang="en-GB" sz="1250" dirty="0">
              <a:solidFill>
                <a:srgbClr val="002060"/>
              </a:solidFill>
            </a:endParaRPr>
          </a:p>
          <a:p>
            <a:r>
              <a:rPr lang="en-GB" sz="1250" dirty="0" smtClean="0">
                <a:solidFill>
                  <a:srgbClr val="002060"/>
                </a:solidFill>
              </a:rPr>
              <a:t>There is a secondary rebound at Tier 5, where engagement recovers across all available match types, indicating that users who pass Tier 4 tend to re-stabilise and continue engaging.</a:t>
            </a:r>
          </a:p>
          <a:p>
            <a:endParaRPr lang="en-GB" sz="1250" dirty="0">
              <a:solidFill>
                <a:srgbClr val="002060"/>
              </a:solidFill>
            </a:endParaRPr>
          </a:p>
          <a:p>
            <a:r>
              <a:rPr lang="en-GB" sz="1250" dirty="0" smtClean="0">
                <a:solidFill>
                  <a:srgbClr val="002060"/>
                </a:solidFill>
              </a:rPr>
              <a:t>From Tier 6 onwards, engagement steadily declines as expected, but quality signals weaken. Abandon rates rise sharply in higher tiers, reaching ~26.6% by Tier 11, showing increasing fatigue or frustration among advanced players.</a:t>
            </a:r>
          </a:p>
          <a:p>
            <a:r>
              <a:rPr lang="en-GB" sz="1250" dirty="0" smtClean="0">
                <a:solidFill>
                  <a:srgbClr val="002060"/>
                </a:solidFill>
              </a:rPr>
              <a:t>Overall, the feature shows strong early engagement at Tier 2, a major friction point at Tier 4 (especially impacting Type C) and a long-term challenge in sustaining engagement among higher-tier users.</a:t>
            </a:r>
            <a:endParaRPr lang="en-GB" sz="1250" dirty="0">
              <a:solidFill>
                <a:srgbClr val="002060"/>
              </a:solidFill>
            </a:endParaRPr>
          </a:p>
        </p:txBody>
      </p:sp>
      <p:sp>
        <p:nvSpPr>
          <p:cNvPr id="9" name="PageTitle"/>
          <p:cNvSpPr>
            <a:spLocks noGrp="1"/>
          </p:cNvSpPr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1A1A2E"/>
          </a:solidFill>
        </p:spPr>
        <p:txBody>
          <a:bodyPr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Tier Engagement Progression </a:t>
            </a:r>
            <a:endParaRPr lang="en-US" sz="2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7647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2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313" y="3864334"/>
            <a:ext cx="5711687" cy="299366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" y="3864334"/>
            <a:ext cx="6463709" cy="29936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5273"/>
            <a:ext cx="6472362" cy="3387256"/>
          </a:xfrm>
          <a:prstGeom prst="rect">
            <a:avLst/>
          </a:prstGeom>
        </p:spPr>
      </p:pic>
      <p:sp>
        <p:nvSpPr>
          <p:cNvPr id="6" name="PageTitle"/>
          <p:cNvSpPr>
            <a:spLocks noGrp="1"/>
          </p:cNvSpPr>
          <p:nvPr/>
        </p:nvSpPr>
        <p:spPr>
          <a:xfrm>
            <a:off x="0" y="0"/>
            <a:ext cx="12192000" cy="445272"/>
          </a:xfrm>
          <a:prstGeom prst="rect">
            <a:avLst/>
          </a:prstGeom>
          <a:solidFill>
            <a:srgbClr val="1A1A2E"/>
          </a:solidFill>
        </p:spPr>
        <p:txBody>
          <a:bodyPr anchor="ctr"/>
          <a:lstStyle/>
          <a:p>
            <a:pPr algn="ctr"/>
            <a:r>
              <a:rPr lang="en-US" sz="2400" b="1" dirty="0" smtClean="0">
                <a:solidFill>
                  <a:srgbClr val="FFFFFF"/>
                </a:solidFill>
              </a:rPr>
              <a:t>In-App Purchases (Monetization)</a:t>
            </a:r>
            <a:endParaRPr lang="en-US" sz="2400" b="1" dirty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80313" y="445273"/>
            <a:ext cx="571168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dirty="0" smtClean="0">
                <a:solidFill>
                  <a:srgbClr val="002060"/>
                </a:solidFill>
              </a:rPr>
              <a:t>Monetisation is strongly driven by low-value, high-volume purchases. Perks dominate performance, generating ~6.2K revenue from 26.3K transactions, with the $1.99 price point clearly acting as the main conversion driver.</a:t>
            </a:r>
          </a:p>
          <a:p>
            <a:endParaRPr lang="en-GB" sz="1350" dirty="0">
              <a:solidFill>
                <a:srgbClr val="002060"/>
              </a:solidFill>
            </a:endParaRPr>
          </a:p>
          <a:p>
            <a:r>
              <a:rPr lang="en-GB" sz="1350" dirty="0" smtClean="0">
                <a:solidFill>
                  <a:srgbClr val="002060"/>
                </a:solidFill>
              </a:rPr>
              <a:t>Gold performs as a mid-tier </a:t>
            </a:r>
            <a:r>
              <a:rPr lang="en-GB" sz="1350" dirty="0" err="1" smtClean="0">
                <a:solidFill>
                  <a:srgbClr val="002060"/>
                </a:solidFill>
              </a:rPr>
              <a:t>monetizer</a:t>
            </a:r>
            <a:r>
              <a:rPr lang="en-GB" sz="1350" dirty="0" smtClean="0">
                <a:solidFill>
                  <a:srgbClr val="002060"/>
                </a:solidFill>
              </a:rPr>
              <a:t>, contributing ~1.4K revenue from a smaller but higher-intent user base, while Boosts generate ~1.1K revenue but remain heavily skewed toward the lowest price point, showing strong usage but limited upsell depth.</a:t>
            </a:r>
          </a:p>
          <a:p>
            <a:endParaRPr lang="en-GB" sz="1350" dirty="0">
              <a:solidFill>
                <a:srgbClr val="002060"/>
              </a:solidFill>
            </a:endParaRPr>
          </a:p>
          <a:p>
            <a:r>
              <a:rPr lang="en-GB" sz="1350" dirty="0" smtClean="0">
                <a:solidFill>
                  <a:srgbClr val="002060"/>
                </a:solidFill>
              </a:rPr>
              <a:t>In contrast, Remove Ads is severely underperforming, with only 53 purchasers and ~105 revenue despite broad ad exposure, indicating a major conversion or value perception gap.</a:t>
            </a:r>
          </a:p>
          <a:p>
            <a:endParaRPr lang="en-GB" sz="1350" dirty="0">
              <a:solidFill>
                <a:srgbClr val="002060"/>
              </a:solidFill>
            </a:endParaRPr>
          </a:p>
          <a:p>
            <a:r>
              <a:rPr lang="en-GB" sz="1350" dirty="0" smtClean="0">
                <a:solidFill>
                  <a:srgbClr val="002060"/>
                </a:solidFill>
              </a:rPr>
              <a:t>Overall, monetisation is heavily concentrated in low-price purchases, with strong volume but weak progression into higher-value tiers; highlighting an opportunity to improve mid-to-high tier conversion and fix Remove Ads adoption.</a:t>
            </a:r>
            <a:endParaRPr lang="en-GB" sz="135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5363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2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82568"/>
            <a:ext cx="12192000" cy="43754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77078"/>
            <a:ext cx="12192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2060"/>
                </a:solidFill>
              </a:rPr>
              <a:t>Ad monetisation is being driven more efficiently by rewarded ads than interstitials, despite lower reach and impressions. Interstitial ads serve a larger audience (231K users) and generate significantly more impressions (2.33M </a:t>
            </a:r>
            <a:r>
              <a:rPr lang="en-GB" sz="1400" dirty="0" err="1" smtClean="0">
                <a:solidFill>
                  <a:srgbClr val="002060"/>
                </a:solidFill>
              </a:rPr>
              <a:t>vs</a:t>
            </a:r>
            <a:r>
              <a:rPr lang="en-GB" sz="1400" dirty="0" smtClean="0">
                <a:solidFill>
                  <a:srgbClr val="002060"/>
                </a:solidFill>
              </a:rPr>
              <a:t> 1.24M), but still contribute less revenue at $6.3K.</a:t>
            </a:r>
          </a:p>
          <a:p>
            <a:endParaRPr lang="en-GB" sz="1400" dirty="0">
              <a:solidFill>
                <a:srgbClr val="002060"/>
              </a:solidFill>
            </a:endParaRPr>
          </a:p>
          <a:p>
            <a:r>
              <a:rPr lang="en-GB" sz="1400" dirty="0" smtClean="0">
                <a:solidFill>
                  <a:srgbClr val="002060"/>
                </a:solidFill>
              </a:rPr>
              <a:t>In contrast, rewarded ads serve fewer users (173K) and fewer impressions, yet generate $7.0K in revenue—about 11% more than interstitials, and account for 52.7% of total ad revenue despite only ~35% of impressions per user share. This indicates a much higher value per impression and stronger user engagement when users opt in.</a:t>
            </a:r>
          </a:p>
          <a:p>
            <a:endParaRPr lang="en-GB" sz="1400" dirty="0">
              <a:solidFill>
                <a:srgbClr val="002060"/>
              </a:solidFill>
            </a:endParaRPr>
          </a:p>
          <a:p>
            <a:r>
              <a:rPr lang="en-GB" sz="1400" dirty="0" smtClean="0">
                <a:solidFill>
                  <a:srgbClr val="002060"/>
                </a:solidFill>
              </a:rPr>
              <a:t>Overall, rewarded ads are materially more efficient, delivering higher monetisation density and better user-value alignment, while interstitials appear over-served relative to their revenue contribution, suggesting potential user experience drag without proportional financial return.</a:t>
            </a:r>
            <a:endParaRPr lang="en-GB" sz="1400" dirty="0">
              <a:solidFill>
                <a:srgbClr val="002060"/>
              </a:solidFill>
            </a:endParaRPr>
          </a:p>
        </p:txBody>
      </p:sp>
      <p:sp>
        <p:nvSpPr>
          <p:cNvPr id="4" name="PageTitle"/>
          <p:cNvSpPr>
            <a:spLocks noGrp="1"/>
          </p:cNvSpPr>
          <p:nvPr/>
        </p:nvSpPr>
        <p:spPr>
          <a:xfrm>
            <a:off x="0" y="0"/>
            <a:ext cx="12192000" cy="445272"/>
          </a:xfrm>
          <a:prstGeom prst="rect">
            <a:avLst/>
          </a:prstGeom>
          <a:solidFill>
            <a:srgbClr val="1A1A2E"/>
          </a:solidFill>
        </p:spPr>
        <p:txBody>
          <a:bodyPr anchor="ctr"/>
          <a:lstStyle/>
          <a:p>
            <a:pPr algn="ctr"/>
            <a:r>
              <a:rPr lang="en-US" sz="2400" b="1" dirty="0" smtClean="0">
                <a:solidFill>
                  <a:srgbClr val="FFFFFF"/>
                </a:solidFill>
              </a:rPr>
              <a:t>AD Revenue (Monetization)</a:t>
            </a:r>
            <a:endParaRPr lang="en-US" sz="2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6210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2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geTitle"/>
          <p:cNvSpPr>
            <a:spLocks noGrp="1"/>
          </p:cNvSpPr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1A1A2E"/>
          </a:solidFill>
        </p:spPr>
        <p:txBody>
          <a:bodyPr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/>
              </a:rPr>
              <a:t>TapSlam: Game Design Recommendations</a:t>
            </a:r>
          </a:p>
        </p:txBody>
      </p:sp>
      <p:sp>
        <p:nvSpPr>
          <p:cNvPr id="200" name="RecCard200"/>
          <p:cNvSpPr>
            <a:spLocks noGrp="1"/>
          </p:cNvSpPr>
          <p:nvPr/>
        </p:nvSpPr>
        <p:spPr>
          <a:xfrm>
            <a:off x="152400" y="1162250"/>
            <a:ext cx="3860800" cy="2550000"/>
          </a:xfrm>
          <a:prstGeom prst="roundRect">
            <a:avLst>
              <a:gd name="adj" fmla="val 20000"/>
            </a:avLst>
          </a:prstGeom>
          <a:solidFill>
            <a:srgbClr val="1F3050"/>
          </a:solidFill>
          <a:ln w="12700">
            <a:solidFill>
              <a:srgbClr val="F9A825"/>
            </a:solidFill>
          </a:ln>
        </p:spPr>
        <p:txBody>
          <a:bodyPr wrap="square" lIns="91440" tIns="91440" rIns="91440" bIns="91440" anchor="t">
            <a:norm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Calibri"/>
              </a:rPr>
              <a:t>1. Fix the Tier 4 Bottleneck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Tier 4 is a structural drop-off — user counts plunge and Types B &amp; C are absent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Investigate gating rules: is difficulty spiking unfairly or is progression unclear?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Introduce a catch-up mechanic or tutorial boost to ease the Tier 3-4 transition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Consider a temporary bonus reward for first Tier 4 completion to re-motivate stalled players</a:t>
            </a:r>
          </a:p>
        </p:txBody>
      </p:sp>
      <p:sp>
        <p:nvSpPr>
          <p:cNvPr id="201" name="RecCard201"/>
          <p:cNvSpPr>
            <a:spLocks noGrp="1"/>
          </p:cNvSpPr>
          <p:nvPr/>
        </p:nvSpPr>
        <p:spPr>
          <a:xfrm>
            <a:off x="4165600" y="1162250"/>
            <a:ext cx="3860800" cy="2550000"/>
          </a:xfrm>
          <a:prstGeom prst="roundRect">
            <a:avLst>
              <a:gd name="adj" fmla="val 20000"/>
            </a:avLst>
          </a:prstGeom>
          <a:solidFill>
            <a:srgbClr val="1F3050"/>
          </a:solidFill>
          <a:ln w="12700">
            <a:solidFill>
              <a:srgbClr val="E53935"/>
            </a:solidFill>
          </a:ln>
        </p:spPr>
        <p:txBody>
          <a:bodyPr wrap="square" lIns="91440" tIns="91440" rIns="91440" bIns="91440" anchor="t">
            <a:norm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Calibri"/>
              </a:rPr>
              <a:t>2. Rebalance Match Type C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Type C has 48% fewer daily users than B and the highest abandon rate (11.2%)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High mid-match abandonment signals engagement or fairness issues — not just difficulty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Redesign or better surface Type C's unique value proposition at the mode selection screen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A/B test a match length reduction or score visibility change to reduce mid-match drop-off</a:t>
            </a:r>
          </a:p>
        </p:txBody>
      </p:sp>
      <p:sp>
        <p:nvSpPr>
          <p:cNvPr id="202" name="RecCard202"/>
          <p:cNvSpPr>
            <a:spLocks noGrp="1"/>
          </p:cNvSpPr>
          <p:nvPr/>
        </p:nvSpPr>
        <p:spPr>
          <a:xfrm>
            <a:off x="8178800" y="1162250"/>
            <a:ext cx="3860800" cy="2550000"/>
          </a:xfrm>
          <a:prstGeom prst="roundRect">
            <a:avLst>
              <a:gd name="adj" fmla="val 20000"/>
            </a:avLst>
          </a:prstGeom>
          <a:solidFill>
            <a:srgbClr val="1F3050"/>
          </a:solidFill>
          <a:ln w="12700">
            <a:solidFill>
              <a:srgbClr val="00ACC1"/>
            </a:solidFill>
          </a:ln>
        </p:spPr>
        <p:txBody>
          <a:bodyPr wrap="square" lIns="91440" tIns="91440" rIns="91440" bIns="91440" anchor="t">
            <a:norm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Calibri"/>
              </a:rPr>
              <a:t>3. Swap Interstitials for Rewarded Ads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Rewarded ads earn 11% more revenue on 47% fewer impressions — far higher CPM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2.33M interstitial impressions risk player frustration and churn with inferior yield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Reduce interstitial frequency by 30-50%; replace with opt-in rewarded placements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Trigger rewarded ads at high-value moments: after close losses, tier completions, or daily login</a:t>
            </a:r>
          </a:p>
        </p:txBody>
      </p:sp>
      <p:sp>
        <p:nvSpPr>
          <p:cNvPr id="203" name="RecCard203"/>
          <p:cNvSpPr>
            <a:spLocks noGrp="1"/>
          </p:cNvSpPr>
          <p:nvPr/>
        </p:nvSpPr>
        <p:spPr>
          <a:xfrm>
            <a:off x="152400" y="3864650"/>
            <a:ext cx="3860800" cy="2550000"/>
          </a:xfrm>
          <a:prstGeom prst="roundRect">
            <a:avLst>
              <a:gd name="adj" fmla="val 20000"/>
            </a:avLst>
          </a:prstGeom>
          <a:solidFill>
            <a:srgbClr val="1F3050"/>
          </a:solidFill>
          <a:ln w="12700">
            <a:solidFill>
              <a:srgbClr val="7B1FA2"/>
            </a:solidFill>
          </a:ln>
        </p:spPr>
        <p:txBody>
          <a:bodyPr wrap="square" lIns="91440" tIns="91440" rIns="91440" bIns="91440" anchor="t">
            <a:norm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Calibri"/>
              </a:rPr>
              <a:t>4. Convert Ad-Tolerant Users with a Smarter Remove Ads Offer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Only 61 of 231K interstitial-exposed users paid to remove ads — a conversion rate of &lt;0.03%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Current Remove Ads pricing or placement is failing to convert at scale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Deploy a contextual offer after 3+ consecutive interstitial sessions or post-loss moments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Test a time-limited discount (e.g. 50% off for 24hrs) to create urgency and lift conversion</a:t>
            </a:r>
          </a:p>
        </p:txBody>
      </p:sp>
      <p:sp>
        <p:nvSpPr>
          <p:cNvPr id="204" name="RecCard204"/>
          <p:cNvSpPr>
            <a:spLocks noGrp="1"/>
          </p:cNvSpPr>
          <p:nvPr/>
        </p:nvSpPr>
        <p:spPr>
          <a:xfrm>
            <a:off x="4165600" y="3864650"/>
            <a:ext cx="3860800" cy="2550000"/>
          </a:xfrm>
          <a:prstGeom prst="roundRect">
            <a:avLst>
              <a:gd name="adj" fmla="val 20000"/>
            </a:avLst>
          </a:prstGeom>
          <a:solidFill>
            <a:srgbClr val="1F3050"/>
          </a:solidFill>
          <a:ln w="12700">
            <a:solidFill>
              <a:srgbClr val="43A047"/>
            </a:solidFill>
          </a:ln>
        </p:spPr>
        <p:txBody>
          <a:bodyPr wrap="square" lIns="91440" tIns="91440" rIns="91440" bIns="91440" anchor="t">
            <a:norm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Calibri"/>
              </a:rPr>
              <a:t>5. Protect and Nurture Match Type A Retention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Type A leads on 30-day retention at 48.2% despite lower adoption than B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A retains better because it likely offers a more balanced or rewarding experience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Study what distinguishes Type A’s loop and apply learnings to Type B (higher volume, lower retention)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Feature Type A more prominently in onboarding to seed long-term retention from day 1</a:t>
            </a:r>
          </a:p>
        </p:txBody>
      </p:sp>
      <p:sp>
        <p:nvSpPr>
          <p:cNvPr id="205" name="RecCard205"/>
          <p:cNvSpPr>
            <a:spLocks noGrp="1"/>
          </p:cNvSpPr>
          <p:nvPr/>
        </p:nvSpPr>
        <p:spPr>
          <a:xfrm>
            <a:off x="8178800" y="3864650"/>
            <a:ext cx="3860800" cy="2550000"/>
          </a:xfrm>
          <a:prstGeom prst="roundRect">
            <a:avLst>
              <a:gd name="adj" fmla="val 20000"/>
            </a:avLst>
          </a:prstGeom>
          <a:solidFill>
            <a:srgbClr val="1F3050"/>
          </a:solidFill>
          <a:ln w="12700">
            <a:solidFill>
              <a:srgbClr val="FB8C00"/>
            </a:solidFill>
          </a:ln>
        </p:spPr>
        <p:txBody>
          <a:bodyPr wrap="square" lIns="91440" tIns="91440" rIns="91440" bIns="91440" anchor="t">
            <a:norm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Calibri"/>
              </a:rPr>
              <a:t>6. Build a Platform-Specific iOS Strategy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iOS users are 20.5% of unique users but only 16% of sessions — less frequent but more diverse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iOS users likely have higher spending power; IAP pricing should reflect this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Test premium-tier Perks bundles or iOS-exclusive cosmetics to capture higher willingness to pay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Ensure interstitial frequency is especially controlled on iOS to protect user quality</a:t>
            </a:r>
          </a:p>
        </p:txBody>
      </p:sp>
    </p:spTree>
    <p:extLst>
      <p:ext uri="{BB962C8B-B14F-4D97-AF65-F5344CB8AC3E}">
        <p14:creationId xmlns:p14="http://schemas.microsoft.com/office/powerpoint/2010/main" val="4079956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1562</Words>
  <Application>Microsoft Office PowerPoint</Application>
  <PresentationFormat>Widescreen</PresentationFormat>
  <Paragraphs>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25</cp:revision>
  <dcterms:created xsi:type="dcterms:W3CDTF">2026-04-10T15:31:14Z</dcterms:created>
  <dcterms:modified xsi:type="dcterms:W3CDTF">2026-04-10T22:59:42Z</dcterms:modified>
</cp:coreProperties>
</file>